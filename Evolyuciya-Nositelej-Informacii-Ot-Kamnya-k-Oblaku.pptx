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Merriweather" panose="00000500000000000000" pitchFamily="2" charset="-52"/>
      <p:regular r:id="rId1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beskyl Vlad" userId="489cff0ee67b67cc" providerId="LiveId" clId="{8ADF4D0B-4DF2-4641-87A4-A460B3EEE356}"/>
    <pc:docChg chg="modSld modMainMaster">
      <pc:chgData name="Gibeskyl Vlad" userId="489cff0ee67b67cc" providerId="LiveId" clId="{8ADF4D0B-4DF2-4641-87A4-A460B3EEE356}" dt="2025-04-01T21:25:57.042" v="26"/>
      <pc:docMkLst>
        <pc:docMk/>
      </pc:docMkLst>
      <pc:sldChg chg="modTransition">
        <pc:chgData name="Gibeskyl Vlad" userId="489cff0ee67b67cc" providerId="LiveId" clId="{8ADF4D0B-4DF2-4641-87A4-A460B3EEE356}" dt="2025-04-01T21:25:09.482" v="14"/>
        <pc:sldMkLst>
          <pc:docMk/>
          <pc:sldMk cId="0" sldId="256"/>
        </pc:sldMkLst>
      </pc:sldChg>
      <pc:sldChg chg="modTransition setBg">
        <pc:chgData name="Gibeskyl Vlad" userId="489cff0ee67b67cc" providerId="LiveId" clId="{8ADF4D0B-4DF2-4641-87A4-A460B3EEE356}" dt="2025-04-01T21:25:11.068" v="15"/>
        <pc:sldMkLst>
          <pc:docMk/>
          <pc:sldMk cId="0" sldId="257"/>
        </pc:sldMkLst>
      </pc:sldChg>
      <pc:sldChg chg="modTransition setBg">
        <pc:chgData name="Gibeskyl Vlad" userId="489cff0ee67b67cc" providerId="LiveId" clId="{8ADF4D0B-4DF2-4641-87A4-A460B3EEE356}" dt="2025-04-01T21:25:16.925" v="17"/>
        <pc:sldMkLst>
          <pc:docMk/>
          <pc:sldMk cId="0" sldId="258"/>
        </pc:sldMkLst>
      </pc:sldChg>
      <pc:sldChg chg="modTransition">
        <pc:chgData name="Gibeskyl Vlad" userId="489cff0ee67b67cc" providerId="LiveId" clId="{8ADF4D0B-4DF2-4641-87A4-A460B3EEE356}" dt="2025-04-01T21:25:20.922" v="18"/>
        <pc:sldMkLst>
          <pc:docMk/>
          <pc:sldMk cId="0" sldId="259"/>
        </pc:sldMkLst>
      </pc:sldChg>
      <pc:sldChg chg="modTransition">
        <pc:chgData name="Gibeskyl Vlad" userId="489cff0ee67b67cc" providerId="LiveId" clId="{8ADF4D0B-4DF2-4641-87A4-A460B3EEE356}" dt="2025-04-01T21:25:30.449" v="20"/>
        <pc:sldMkLst>
          <pc:docMk/>
          <pc:sldMk cId="0" sldId="260"/>
        </pc:sldMkLst>
      </pc:sldChg>
      <pc:sldChg chg="modTransition setBg">
        <pc:chgData name="Gibeskyl Vlad" userId="489cff0ee67b67cc" providerId="LiveId" clId="{8ADF4D0B-4DF2-4641-87A4-A460B3EEE356}" dt="2025-04-01T21:25:35.050" v="21"/>
        <pc:sldMkLst>
          <pc:docMk/>
          <pc:sldMk cId="0" sldId="261"/>
        </pc:sldMkLst>
      </pc:sldChg>
      <pc:sldChg chg="modTransition setBg">
        <pc:chgData name="Gibeskyl Vlad" userId="489cff0ee67b67cc" providerId="LiveId" clId="{8ADF4D0B-4DF2-4641-87A4-A460B3EEE356}" dt="2025-04-01T21:25:39.998" v="22"/>
        <pc:sldMkLst>
          <pc:docMk/>
          <pc:sldMk cId="0" sldId="262"/>
        </pc:sldMkLst>
      </pc:sldChg>
      <pc:sldChg chg="modTransition">
        <pc:chgData name="Gibeskyl Vlad" userId="489cff0ee67b67cc" providerId="LiveId" clId="{8ADF4D0B-4DF2-4641-87A4-A460B3EEE356}" dt="2025-04-01T21:25:44.930" v="23"/>
        <pc:sldMkLst>
          <pc:docMk/>
          <pc:sldMk cId="0" sldId="263"/>
        </pc:sldMkLst>
      </pc:sldChg>
      <pc:sldChg chg="modTransition">
        <pc:chgData name="Gibeskyl Vlad" userId="489cff0ee67b67cc" providerId="LiveId" clId="{8ADF4D0B-4DF2-4641-87A4-A460B3EEE356}" dt="2025-04-01T21:25:49.923" v="24"/>
        <pc:sldMkLst>
          <pc:docMk/>
          <pc:sldMk cId="0" sldId="264"/>
        </pc:sldMkLst>
      </pc:sldChg>
      <pc:sldChg chg="modTransition">
        <pc:chgData name="Gibeskyl Vlad" userId="489cff0ee67b67cc" providerId="LiveId" clId="{8ADF4D0B-4DF2-4641-87A4-A460B3EEE356}" dt="2025-04-01T21:25:54.217" v="25"/>
        <pc:sldMkLst>
          <pc:docMk/>
          <pc:sldMk cId="0" sldId="265"/>
        </pc:sldMkLst>
      </pc:sldChg>
      <pc:sldChg chg="modTransition">
        <pc:chgData name="Gibeskyl Vlad" userId="489cff0ee67b67cc" providerId="LiveId" clId="{8ADF4D0B-4DF2-4641-87A4-A460B3EEE356}" dt="2025-04-01T21:25:57.042" v="26"/>
        <pc:sldMkLst>
          <pc:docMk/>
          <pc:sldMk cId="0" sldId="266"/>
        </pc:sldMkLst>
      </pc:sldChg>
      <pc:sldMasterChg chg="setBg modSldLayout">
        <pc:chgData name="Gibeskyl Vlad" userId="489cff0ee67b67cc" providerId="LiveId" clId="{8ADF4D0B-4DF2-4641-87A4-A460B3EEE356}" dt="2025-03-23T12:45:38.125" v="13"/>
        <pc:sldMasterMkLst>
          <pc:docMk/>
          <pc:sldMasterMk cId="0" sldId="2147483648"/>
        </pc:sldMasterMkLst>
        <pc:sldLayoutChg chg="setBg">
          <pc:chgData name="Gibeskyl Vlad" userId="489cff0ee67b67cc" providerId="LiveId" clId="{8ADF4D0B-4DF2-4641-87A4-A460B3EEE356}" dt="2025-03-23T12:45:38.125" v="13"/>
          <pc:sldLayoutMkLst>
            <pc:docMk/>
            <pc:sldMasterMk cId="0" sldId="2147483648"/>
            <pc:sldLayoutMk cId="0" sldId="2147483649"/>
          </pc:sldLayoutMkLst>
        </pc:sldLayoutChg>
        <pc:sldLayoutChg chg="setBg">
          <pc:chgData name="Gibeskyl Vlad" userId="489cff0ee67b67cc" providerId="LiveId" clId="{8ADF4D0B-4DF2-4641-87A4-A460B3EEE356}" dt="2025-03-23T12:45:38.125" v="13"/>
          <pc:sldLayoutMkLst>
            <pc:docMk/>
            <pc:sldMasterMk cId="0" sldId="2147483648"/>
            <pc:sldLayoutMk cId="0" sldId="2147483650"/>
          </pc:sldLayoutMkLst>
        </pc:sldLayoutChg>
        <pc:sldLayoutChg chg="setBg">
          <pc:chgData name="Gibeskyl Vlad" userId="489cff0ee67b67cc" providerId="LiveId" clId="{8ADF4D0B-4DF2-4641-87A4-A460B3EEE356}" dt="2025-03-23T12:45:38.125" v="13"/>
          <pc:sldLayoutMkLst>
            <pc:docMk/>
            <pc:sldMasterMk cId="0" sldId="2147483648"/>
            <pc:sldLayoutMk cId="0" sldId="2147483651"/>
          </pc:sldLayoutMkLst>
        </pc:sldLayoutChg>
        <pc:sldLayoutChg chg="setBg">
          <pc:chgData name="Gibeskyl Vlad" userId="489cff0ee67b67cc" providerId="LiveId" clId="{8ADF4D0B-4DF2-4641-87A4-A460B3EEE356}" dt="2025-03-23T12:45:38.125" v="13"/>
          <pc:sldLayoutMkLst>
            <pc:docMk/>
            <pc:sldMasterMk cId="0" sldId="2147483648"/>
            <pc:sldLayoutMk cId="0" sldId="2147483652"/>
          </pc:sldLayoutMkLst>
        </pc:sldLayoutChg>
        <pc:sldLayoutChg chg="setBg">
          <pc:chgData name="Gibeskyl Vlad" userId="489cff0ee67b67cc" providerId="LiveId" clId="{8ADF4D0B-4DF2-4641-87A4-A460B3EEE356}" dt="2025-03-23T12:45:38.125" v="13"/>
          <pc:sldLayoutMkLst>
            <pc:docMk/>
            <pc:sldMasterMk cId="0" sldId="2147483648"/>
            <pc:sldLayoutMk cId="0" sldId="2147483653"/>
          </pc:sldLayoutMkLst>
        </pc:sldLayoutChg>
        <pc:sldLayoutChg chg="setBg">
          <pc:chgData name="Gibeskyl Vlad" userId="489cff0ee67b67cc" providerId="LiveId" clId="{8ADF4D0B-4DF2-4641-87A4-A460B3EEE356}" dt="2025-03-23T12:45:38.125" v="13"/>
          <pc:sldLayoutMkLst>
            <pc:docMk/>
            <pc:sldMasterMk cId="0" sldId="2147483648"/>
            <pc:sldLayoutMk cId="0" sldId="2147483654"/>
          </pc:sldLayoutMkLst>
        </pc:sldLayoutChg>
        <pc:sldLayoutChg chg="setBg">
          <pc:chgData name="Gibeskyl Vlad" userId="489cff0ee67b67cc" providerId="LiveId" clId="{8ADF4D0B-4DF2-4641-87A4-A460B3EEE356}" dt="2025-03-23T12:45:38.125" v="13"/>
          <pc:sldLayoutMkLst>
            <pc:docMk/>
            <pc:sldMasterMk cId="0" sldId="2147483648"/>
            <pc:sldLayoutMk cId="0" sldId="2147483655"/>
          </pc:sldLayoutMkLst>
        </pc:sldLayoutChg>
        <pc:sldLayoutChg chg="setBg">
          <pc:chgData name="Gibeskyl Vlad" userId="489cff0ee67b67cc" providerId="LiveId" clId="{8ADF4D0B-4DF2-4641-87A4-A460B3EEE356}" dt="2025-03-23T12:45:38.125" v="13"/>
          <pc:sldLayoutMkLst>
            <pc:docMk/>
            <pc:sldMasterMk cId="0" sldId="2147483648"/>
            <pc:sldLayoutMk cId="0" sldId="2147483656"/>
          </pc:sldLayoutMkLst>
        </pc:sldLayoutChg>
        <pc:sldLayoutChg chg="setBg">
          <pc:chgData name="Gibeskyl Vlad" userId="489cff0ee67b67cc" providerId="LiveId" clId="{8ADF4D0B-4DF2-4641-87A4-A460B3EEE356}" dt="2025-03-23T12:45:38.125" v="13"/>
          <pc:sldLayoutMkLst>
            <pc:docMk/>
            <pc:sldMasterMk cId="0" sldId="2147483648"/>
            <pc:sldLayoutMk cId="0" sldId="2147483657"/>
          </pc:sldLayoutMkLst>
        </pc:sldLayoutChg>
        <pc:sldLayoutChg chg="setBg">
          <pc:chgData name="Gibeskyl Vlad" userId="489cff0ee67b67cc" providerId="LiveId" clId="{8ADF4D0B-4DF2-4641-87A4-A460B3EEE356}" dt="2025-03-23T12:45:38.125" v="13"/>
          <pc:sldLayoutMkLst>
            <pc:docMk/>
            <pc:sldMasterMk cId="0" sldId="2147483648"/>
            <pc:sldLayoutMk cId="0" sldId="2147483658"/>
          </pc:sldLayoutMkLst>
        </pc:sldLayoutChg>
        <pc:sldLayoutChg chg="setBg">
          <pc:chgData name="Gibeskyl Vlad" userId="489cff0ee67b67cc" providerId="LiveId" clId="{8ADF4D0B-4DF2-4641-87A4-A460B3EEE356}" dt="2025-03-23T12:45:38.125" v="13"/>
          <pc:sldLayoutMkLst>
            <pc:docMk/>
            <pc:sldMasterMk cId="0" sldId="2147483648"/>
            <pc:sldLayoutMk cId="0" sldId="2147483659"/>
          </pc:sldLayoutMkLst>
        </pc:sldLayoutChg>
        <pc:sldLayoutChg chg="setBg">
          <pc:chgData name="Gibeskyl Vlad" userId="489cff0ee67b67cc" providerId="LiveId" clId="{8ADF4D0B-4DF2-4641-87A4-A460B3EEE356}" dt="2025-03-23T12:45:38.125" v="13"/>
          <pc:sldLayoutMkLst>
            <pc:docMk/>
            <pc:sldMasterMk cId="0" sldId="2147483648"/>
            <pc:sldLayoutMk cId="0" sldId="214748366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3184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26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8201" y="666393"/>
            <a:ext cx="7447598" cy="2272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950"/>
              </a:lnSpc>
              <a:buNone/>
            </a:pPr>
            <a:r>
              <a:rPr lang="en-US" sz="47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Эволюция Носителей Информации: От Камня к Облаку</a:t>
            </a:r>
            <a:endParaRPr lang="en-US" sz="4750" dirty="0"/>
          </a:p>
        </p:txBody>
      </p:sp>
      <p:sp>
        <p:nvSpPr>
          <p:cNvPr id="4" name="Text 1"/>
          <p:cNvSpPr/>
          <p:nvPr/>
        </p:nvSpPr>
        <p:spPr>
          <a:xfrm>
            <a:off x="848201" y="3301960"/>
            <a:ext cx="7447598" cy="4264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Представляем вашему вниманию увлекательное путешествие по эволюции носителей информации, от древнейших времен до современности. Мы проследим, как человечество трансформировало способы хранения и передачи знаний, начиная с наскальных рисунков и заканчивая облачными хранилищами. Узнаем о ключевых этапах развития и технологиях, которые сформировали нашу цивилизацию. Рассмотрим важность надежного хранения информации для прогресса и развития человечества. Присоединяйтесь к нам в этом захватывающем исследовании!</a:t>
            </a:r>
            <a:endParaRPr lang="en-US" sz="1900" dirty="0"/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50650" y="854512"/>
            <a:ext cx="7815501" cy="1186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Дописьменные Носители: Память и Символы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150650" y="2325291"/>
            <a:ext cx="7815501" cy="2125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В эпоху до появления письменности, устная традиция служила основным способом передачи знаний из поколения в поколение. Память людей была хранилищем истории, мифов и практических навыков. Наскальные рисунки и петроглифы стали первыми попытками фиксации информации, оставляя свидетельства о жизни и мировоззрении древних людей. Узелковое письмо инков (кипу) представляло собой сложную систему учета и передачи данных, демонстрируя возможности символической коммуникации.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150650" y="4664035"/>
            <a:ext cx="3812858" cy="1412438"/>
          </a:xfrm>
          <a:prstGeom prst="roundRect">
            <a:avLst>
              <a:gd name="adj" fmla="val 5644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48055" y="4861441"/>
            <a:ext cx="2372320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Устная традиция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348055" y="5271849"/>
            <a:ext cx="3418046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Передача знаний из уст в уста.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10153293" y="4664035"/>
            <a:ext cx="3812858" cy="1412438"/>
          </a:xfrm>
          <a:prstGeom prst="roundRect">
            <a:avLst>
              <a:gd name="adj" fmla="val 5644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50698" y="4861441"/>
            <a:ext cx="2571512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Наскальные рисунки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10350698" y="5271849"/>
            <a:ext cx="3418046" cy="607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Первые попытки фиксации информации.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150650" y="6266259"/>
            <a:ext cx="7815501" cy="1108829"/>
          </a:xfrm>
          <a:prstGeom prst="roundRect">
            <a:avLst>
              <a:gd name="adj" fmla="val 7189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48055" y="6463665"/>
            <a:ext cx="2372320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Узелковое письмо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6348055" y="6874073"/>
            <a:ext cx="7420689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Сложная система учета и передачи данных.</a:t>
            </a:r>
            <a:endParaRPr lang="en-US" sz="1450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0071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1975" y="2697837"/>
            <a:ext cx="11999714" cy="501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Появление Письменности: Глиняные Таблички и Папирус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561975" y="3440430"/>
            <a:ext cx="13506450" cy="1027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Шумерская клинопись, возникшая около 3200 г. до н.э., стала одной из первых известных систем письменности. Глиняные таблички, на которых записывались тексты, отличались долговечностью, но были сложны в хранении и транспортировке. Египетский папирус, напротив, был более легким и удобным материалом, но менее долговечным. Появление письменности сыграло огромную роль в развитии науки, литературы и государственного управления, открыв новые возможности для фиксации и распространения знаний.</a:t>
            </a:r>
            <a:endParaRPr lang="en-US" sz="12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" y="4648795"/>
            <a:ext cx="802838" cy="96333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05558" y="4809292"/>
            <a:ext cx="2007156" cy="250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Клинопись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1605558" y="5156478"/>
            <a:ext cx="12462867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Первая письменность.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5612130"/>
            <a:ext cx="802838" cy="96333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605558" y="5772626"/>
            <a:ext cx="2088952" cy="250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Глиняные таблички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1605558" y="6119812"/>
            <a:ext cx="12462867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Долговечность, сложность.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975" y="6575465"/>
            <a:ext cx="802838" cy="96333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605558" y="6735961"/>
            <a:ext cx="2007156" cy="250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Папирус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1605558" y="7083147"/>
            <a:ext cx="12462867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Легкость, недолговечность.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6036" y="560546"/>
            <a:ext cx="7811929" cy="1189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Пергамент и Кодекс: Переход к Книжной Форме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6036" y="2035373"/>
            <a:ext cx="7811929" cy="2130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Пергамент, изготавливаемый из кожи животных, отличался большей прочностью и долговечностью, чем папирус. Кодекс, представлявший собой листы пергамента, скрепленные вместе, стал предшественником современной книги, заменив свитки. Распространение христианства и деятельность монастырей способствовали переписке и сохранению книг. Иллюминированные рукописи, сочетавшие текст и изображения, стали настоящими произведениями искусства.</a:t>
            </a:r>
            <a:endParaRPr lang="en-US" sz="1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36" y="4412933"/>
            <a:ext cx="475774" cy="47577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32071" y="4379714"/>
            <a:ext cx="2378869" cy="297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Свитки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1332071" y="4791194"/>
            <a:ext cx="7145893" cy="30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Ранние носители информации.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036" y="5699641"/>
            <a:ext cx="475774" cy="47577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32071" y="5666423"/>
            <a:ext cx="2378869" cy="297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Кодекс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1332071" y="6077903"/>
            <a:ext cx="7145893" cy="30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Предшественник книги.</a:t>
            </a:r>
            <a:endParaRPr lang="en-US" sz="14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036" y="6986349"/>
            <a:ext cx="475774" cy="47577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332071" y="6953131"/>
            <a:ext cx="2378869" cy="297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Монастыри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1332071" y="7364611"/>
            <a:ext cx="7145893" cy="30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Центры сохранения книг.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3059" y="538520"/>
            <a:ext cx="7817882" cy="1183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Изобретение Книгопечатания: Революция Гутенберга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3059" y="2006560"/>
            <a:ext cx="7817882" cy="1818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Изобретение Иоганном Гутенбергом печатного станка около 1440 года стало настоящей революцией в распространении знаний. Первая напечатанная книга, Библия Гутенберга, была выпущена тиражом около 180 экземпляров. Книгопечатание значительно увеличило скорость и снизило стоимость производства книг, сделав знания более доступными. Это способствовало развитию образования и науки, а также положило начало эпохе Возрождения.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876181" y="4037767"/>
            <a:ext cx="22860" cy="3653195"/>
          </a:xfrm>
          <a:prstGeom prst="roundRect">
            <a:avLst>
              <a:gd name="adj" fmla="val 348100"/>
            </a:avLst>
          </a:prstGeom>
          <a:solidFill>
            <a:srgbClr val="194A99"/>
          </a:solidFill>
          <a:ln/>
        </p:spPr>
      </p:sp>
      <p:sp>
        <p:nvSpPr>
          <p:cNvPr id="6" name="Shape 3"/>
          <p:cNvSpPr/>
          <p:nvPr/>
        </p:nvSpPr>
        <p:spPr>
          <a:xfrm>
            <a:off x="1066443" y="4452580"/>
            <a:ext cx="568285" cy="22860"/>
          </a:xfrm>
          <a:prstGeom prst="roundRect">
            <a:avLst>
              <a:gd name="adj" fmla="val 348100"/>
            </a:avLst>
          </a:prstGeom>
          <a:solidFill>
            <a:srgbClr val="194A99"/>
          </a:solidFill>
          <a:ln/>
        </p:spPr>
      </p:sp>
      <p:sp>
        <p:nvSpPr>
          <p:cNvPr id="7" name="Shape 4"/>
          <p:cNvSpPr/>
          <p:nvPr/>
        </p:nvSpPr>
        <p:spPr>
          <a:xfrm>
            <a:off x="663059" y="4250888"/>
            <a:ext cx="426244" cy="426244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4139" y="4286429"/>
            <a:ext cx="284083" cy="355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823442" y="4227195"/>
            <a:ext cx="2368272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1440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1823442" y="4636770"/>
            <a:ext cx="6657499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Печатный станок Гутенберга.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1066443" y="5733455"/>
            <a:ext cx="568285" cy="22860"/>
          </a:xfrm>
          <a:prstGeom prst="roundRect">
            <a:avLst>
              <a:gd name="adj" fmla="val 348100"/>
            </a:avLst>
          </a:prstGeom>
          <a:solidFill>
            <a:srgbClr val="194A99"/>
          </a:solidFill>
          <a:ln/>
        </p:spPr>
      </p:sp>
      <p:sp>
        <p:nvSpPr>
          <p:cNvPr id="12" name="Shape 9"/>
          <p:cNvSpPr/>
          <p:nvPr/>
        </p:nvSpPr>
        <p:spPr>
          <a:xfrm>
            <a:off x="663059" y="5531763"/>
            <a:ext cx="426244" cy="426244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4139" y="5567303"/>
            <a:ext cx="284083" cy="355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823442" y="5508069"/>
            <a:ext cx="2368272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Библия Гутенберга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1823442" y="5917644"/>
            <a:ext cx="6657499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Первая печатная книга.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1066443" y="7014329"/>
            <a:ext cx="568285" cy="22860"/>
          </a:xfrm>
          <a:prstGeom prst="roundRect">
            <a:avLst>
              <a:gd name="adj" fmla="val 348100"/>
            </a:avLst>
          </a:prstGeom>
          <a:solidFill>
            <a:srgbClr val="194A99"/>
          </a:solidFill>
          <a:ln/>
        </p:spPr>
      </p:sp>
      <p:sp>
        <p:nvSpPr>
          <p:cNvPr id="17" name="Shape 14"/>
          <p:cNvSpPr/>
          <p:nvPr/>
        </p:nvSpPr>
        <p:spPr>
          <a:xfrm>
            <a:off x="663059" y="6812637"/>
            <a:ext cx="426244" cy="426244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4139" y="6848177"/>
            <a:ext cx="284083" cy="355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823442" y="6788944"/>
            <a:ext cx="2368272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Возрождение</a:t>
            </a:r>
            <a:endParaRPr lang="en-US" sz="1850" dirty="0"/>
          </a:p>
        </p:txBody>
      </p:sp>
      <p:sp>
        <p:nvSpPr>
          <p:cNvPr id="20" name="Text 17"/>
          <p:cNvSpPr/>
          <p:nvPr/>
        </p:nvSpPr>
        <p:spPr>
          <a:xfrm>
            <a:off x="1823442" y="7198519"/>
            <a:ext cx="6657499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Распространение знаний.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1982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7466" y="3106103"/>
            <a:ext cx="12504182" cy="604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Фотография и Звукозапись: Фиксация Реальности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677466" y="4001333"/>
            <a:ext cx="13275469" cy="1238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Дагерротипия, появившаяся в 1839 году, стала первым практическим способом фотографирования, позволяя запечатлеть моменты реальности. Изобретение фотопленки упростило и удешевило процесс фотографии, сделав его доступным широкому кругу людей. Фонограф, созданный Томасом Эдисоном в 1877 году, стал первым устройством для записи и воспроизведения звука. Грамофон, усовершенствованный Эмилем Берлинером, использовал грампластинки для воспроизведения звука с более высоким качеством.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77466" y="5675590"/>
            <a:ext cx="435531" cy="435531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306473" y="5675590"/>
            <a:ext cx="24198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Дагерротипия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306473" y="6094095"/>
            <a:ext cx="5912048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Первый способ фотографирования.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411998" y="5675590"/>
            <a:ext cx="435531" cy="435531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1005" y="5675590"/>
            <a:ext cx="24198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Фотопленка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041005" y="6094095"/>
            <a:ext cx="5912048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Упрощение фотографии.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77466" y="6815018"/>
            <a:ext cx="435531" cy="435531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06473" y="6815018"/>
            <a:ext cx="24198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Фонограф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306473" y="7233523"/>
            <a:ext cx="5912048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Запись звука.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411998" y="6815018"/>
            <a:ext cx="435531" cy="435531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41005" y="6815018"/>
            <a:ext cx="24198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Грамофон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8041005" y="7233523"/>
            <a:ext cx="5912048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Улучшенное воспроизведение.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5820" y="664607"/>
            <a:ext cx="12938760" cy="1510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900"/>
              </a:lnSpc>
              <a:buNone/>
            </a:pPr>
            <a:r>
              <a:rPr lang="en-US" sz="47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Магнитные Носители: Эпоха Компьютеров</a:t>
            </a:r>
            <a:endParaRPr lang="en-US" sz="4750" dirty="0"/>
          </a:p>
        </p:txBody>
      </p:sp>
      <p:sp>
        <p:nvSpPr>
          <p:cNvPr id="3" name="Text 1"/>
          <p:cNvSpPr/>
          <p:nvPr/>
        </p:nvSpPr>
        <p:spPr>
          <a:xfrm>
            <a:off x="845820" y="2658308"/>
            <a:ext cx="12938760" cy="1933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Магнитная лента использовалась для хранения больших объемов данных в первых компьютерах. Магнитный диск (жесткий диск) обеспечивал более быстрый и удобный способ доступа к данным. Флоппи-диск стал портативным носителем информации, получившим широкое распространение в 1980-х и 1990-х годах. Кассеты для аудио и видео были популярными носителями для развлечений, позволяя записывать и воспроизводить музыку и фильмы.</a:t>
            </a:r>
            <a:endParaRPr lang="en-US" sz="1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2996" y="4863703"/>
            <a:ext cx="2134791" cy="8607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910370" y="5174456"/>
            <a:ext cx="339804" cy="42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50"/>
              </a:lnSpc>
              <a:buNone/>
            </a:pPr>
            <a:r>
              <a:rPr lang="en-US" sz="2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5389364" y="5105281"/>
            <a:ext cx="917258" cy="377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Лента</a:t>
            </a:r>
            <a:endParaRPr lang="en-US" sz="2350" dirty="0"/>
          </a:p>
        </p:txBody>
      </p:sp>
      <p:sp>
        <p:nvSpPr>
          <p:cNvPr id="7" name="Shape 4"/>
          <p:cNvSpPr/>
          <p:nvPr/>
        </p:nvSpPr>
        <p:spPr>
          <a:xfrm>
            <a:off x="5208151" y="5739289"/>
            <a:ext cx="8516064" cy="15240"/>
          </a:xfrm>
          <a:prstGeom prst="roundRect">
            <a:avLst>
              <a:gd name="adj" fmla="val 666060"/>
            </a:avLst>
          </a:prstGeom>
          <a:solidFill>
            <a:srgbClr val="194A99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5600" y="5784771"/>
            <a:ext cx="4269700" cy="86070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10489" y="6002655"/>
            <a:ext cx="339804" cy="42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50"/>
              </a:lnSpc>
              <a:buNone/>
            </a:pPr>
            <a:r>
              <a:rPr lang="en-US" sz="2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6"/>
          <p:cNvSpPr/>
          <p:nvPr/>
        </p:nvSpPr>
        <p:spPr>
          <a:xfrm>
            <a:off x="6456878" y="6026348"/>
            <a:ext cx="759500" cy="377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Диск</a:t>
            </a:r>
            <a:endParaRPr lang="en-US" sz="2350" dirty="0"/>
          </a:p>
        </p:txBody>
      </p:sp>
      <p:sp>
        <p:nvSpPr>
          <p:cNvPr id="11" name="Shape 7"/>
          <p:cNvSpPr/>
          <p:nvPr/>
        </p:nvSpPr>
        <p:spPr>
          <a:xfrm>
            <a:off x="6275665" y="6660356"/>
            <a:ext cx="7448550" cy="15240"/>
          </a:xfrm>
          <a:prstGeom prst="roundRect">
            <a:avLst>
              <a:gd name="adj" fmla="val 666060"/>
            </a:avLst>
          </a:prstGeom>
          <a:solidFill>
            <a:srgbClr val="194A99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086" y="6705838"/>
            <a:ext cx="6404610" cy="86070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910370" y="6923723"/>
            <a:ext cx="339804" cy="42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50"/>
              </a:lnSpc>
              <a:buNone/>
            </a:pPr>
            <a:r>
              <a:rPr lang="en-US" sz="2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9"/>
          <p:cNvSpPr/>
          <p:nvPr/>
        </p:nvSpPr>
        <p:spPr>
          <a:xfrm>
            <a:off x="7524274" y="6947416"/>
            <a:ext cx="1218724" cy="377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Флоппи</a:t>
            </a:r>
            <a:endParaRPr lang="en-US" sz="23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608415"/>
            <a:ext cx="10279618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Оптические Носители: CD и DVD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3798" y="2873335"/>
            <a:ext cx="12902803" cy="197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Компакт-диск (CD), разработанный компаниями Philips и Sony в 1982 году, стал цифровым носителем для хранения аудио и данных. DVD, появившийся в 1995 году, был более емким форматом, предназначенным для хранения видео. Blu-ray Disc, представленный в 2006 году, обеспечивал еще большую емкость для хранения видео высокого разрешения. Оптические носители обладали такими преимуществами, как большая емкость, долговечность и удобство тиражирования.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3798" y="5371862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63798" y="6004203"/>
            <a:ext cx="3898940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Цифровой звук и данные.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372576" y="5371862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DVD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72576" y="6004203"/>
            <a:ext cx="3898940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Видео высокого качества.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881354" y="5371862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Blu-ray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881354" y="6004203"/>
            <a:ext cx="3898940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Высокое разрешение.</a:t>
            </a:r>
            <a:endParaRPr lang="en-US" sz="1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07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2112" y="3220998"/>
            <a:ext cx="12070080" cy="626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Флеш-память и SSD: Компактность и Скорость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02112" y="4148733"/>
            <a:ext cx="13226177" cy="128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USB-флеш-накопитель (флешка), появившийся в конце 1990-х годов, стал портативным и удобным носителем информации. Карты памяти нашли широкое применение в цифровых фотоаппаратах, телефонах и других устройствах. Твердотельные накопители (SSD) обеспечивали быструю и надежную работу компьютеров, заменяя традиционные жесткие диски. Флеш-память отличалась компактностью, энергоэффективностью и устойчивостью к механическим воздействиям.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702112" y="6260068"/>
            <a:ext cx="4208145" cy="200501"/>
          </a:xfrm>
          <a:prstGeom prst="roundRect">
            <a:avLst>
              <a:gd name="adj" fmla="val 42023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02112" y="6761440"/>
            <a:ext cx="2507575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Флешка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702112" y="7195066"/>
            <a:ext cx="4208145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Портативность.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211128" y="5959197"/>
            <a:ext cx="4208145" cy="200501"/>
          </a:xfrm>
          <a:prstGeom prst="roundRect">
            <a:avLst>
              <a:gd name="adj" fmla="val 42023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211128" y="6460569"/>
            <a:ext cx="2507575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Карты памяти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5211128" y="6894195"/>
            <a:ext cx="4208145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Универсальность.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9720143" y="5658326"/>
            <a:ext cx="4208145" cy="200501"/>
          </a:xfrm>
          <a:prstGeom prst="roundRect">
            <a:avLst>
              <a:gd name="adj" fmla="val 42023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720143" y="6159698"/>
            <a:ext cx="2507575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SSD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9720143" y="6593324"/>
            <a:ext cx="4208145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Скорость.</a:t>
            </a:r>
            <a:endParaRPr lang="en-US" sz="15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2110" y="543878"/>
            <a:ext cx="11003994" cy="618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Облачные Хранилища: Информация в Сети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692110" y="1557457"/>
            <a:ext cx="13246179" cy="1581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Облачные хранилища позволяют хранить данные на удаленных серверах и получать доступ к ним через Интернет. Примеры таких сервисов включают Google Drive, Dropbox и iCloud. Преимуществами облачных хранилищ являются доступность с любого устройства, резервное копирование данных и возможность совместной работы. Однако, возникают вопросы безопасности и конфиденциальности данных. В будущем нас ждут квантовые накопители, ДНК-хранилища и другие перспективные технологии хранения информации.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2129552" y="5307687"/>
            <a:ext cx="2472095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Доступность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92110" y="5735241"/>
            <a:ext cx="3909536" cy="316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С любого устройства.</a:t>
            </a:r>
            <a:endParaRPr lang="en-US" sz="15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7172" y="3361611"/>
            <a:ext cx="4636056" cy="4636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44503" y="5494734"/>
            <a:ext cx="295870" cy="369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9929813" y="4074438"/>
            <a:ext cx="3021449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Резервное копирование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929813" y="4501991"/>
            <a:ext cx="4008477" cy="316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Сохранность данных.</a:t>
            </a:r>
            <a:endParaRPr lang="en-US" sz="15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7172" y="3361611"/>
            <a:ext cx="4636056" cy="46360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978497" y="4089440"/>
            <a:ext cx="295870" cy="369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</a:t>
            </a:r>
            <a:endParaRPr lang="en-US" sz="2300" dirty="0"/>
          </a:p>
        </p:txBody>
      </p:sp>
      <p:sp>
        <p:nvSpPr>
          <p:cNvPr id="12" name="Text 8"/>
          <p:cNvSpPr/>
          <p:nvPr/>
        </p:nvSpPr>
        <p:spPr>
          <a:xfrm>
            <a:off x="9929813" y="6540818"/>
            <a:ext cx="2472095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Совместная работа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9929813" y="6968371"/>
            <a:ext cx="4008477" cy="316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Удобство для команд.</a:t>
            </a:r>
            <a:endParaRPr lang="en-US" sz="15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7172" y="3361611"/>
            <a:ext cx="4636056" cy="46360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978497" y="6899910"/>
            <a:ext cx="295870" cy="369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</a:t>
            </a:r>
            <a:endParaRPr lang="en-US" sz="2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694015"/>
            <a:ext cx="617077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Заключение</a:t>
            </a:r>
            <a:endParaRPr lang="en-US" sz="4850" dirty="0"/>
          </a:p>
        </p:txBody>
      </p:sp>
      <p:sp>
        <p:nvSpPr>
          <p:cNvPr id="4" name="Text 1"/>
          <p:cNvSpPr/>
          <p:nvPr/>
        </p:nvSpPr>
        <p:spPr>
          <a:xfrm>
            <a:off x="863798" y="1835468"/>
            <a:ext cx="7416403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Мы рассмотрели эволюцию носителей информации, от камня до облака. Каждый этап принес свои инновации и преимущества.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863798" y="3575209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56370" y="3621465"/>
            <a:ext cx="370165" cy="46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1665923" y="3575209"/>
            <a:ext cx="2782729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Прогресс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665923" y="4108728"/>
            <a:ext cx="2782729" cy="157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Развитие технологий хранения информации продолжается.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4695468" y="3575209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88039" y="3621465"/>
            <a:ext cx="370165" cy="46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</a:t>
            </a:r>
            <a:endParaRPr lang="en-US" sz="2900" dirty="0"/>
          </a:p>
        </p:txBody>
      </p:sp>
      <p:sp>
        <p:nvSpPr>
          <p:cNvPr id="11" name="Text 8"/>
          <p:cNvSpPr/>
          <p:nvPr/>
        </p:nvSpPr>
        <p:spPr>
          <a:xfrm>
            <a:off x="5497592" y="3575209"/>
            <a:ext cx="2782729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Будущее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5497592" y="4108728"/>
            <a:ext cx="2782729" cy="157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Новые материалы и методы обещают еще большую емкость и скорость.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863798" y="6212443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56370" y="6258699"/>
            <a:ext cx="370165" cy="46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</a:t>
            </a:r>
            <a:endParaRPr lang="en-US" sz="2900" dirty="0"/>
          </a:p>
        </p:txBody>
      </p:sp>
      <p:sp>
        <p:nvSpPr>
          <p:cNvPr id="15" name="Text 12"/>
          <p:cNvSpPr/>
          <p:nvPr/>
        </p:nvSpPr>
        <p:spPr>
          <a:xfrm>
            <a:off x="1665923" y="6212443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Доступность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665923" y="6745962"/>
            <a:ext cx="6614279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Информация становится всё более доступной и мобильной.</a:t>
            </a:r>
            <a:endParaRPr lang="en-US" sz="1900" dirty="0"/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925</Words>
  <Application>Microsoft Office PowerPoint</Application>
  <PresentationFormat>Произвольный</PresentationFormat>
  <Paragraphs>104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Merriweather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Gibeskyl Vlad</cp:lastModifiedBy>
  <cp:revision>1</cp:revision>
  <dcterms:created xsi:type="dcterms:W3CDTF">2025-03-23T12:43:22Z</dcterms:created>
  <dcterms:modified xsi:type="dcterms:W3CDTF">2025-04-01T21:26:02Z</dcterms:modified>
</cp:coreProperties>
</file>